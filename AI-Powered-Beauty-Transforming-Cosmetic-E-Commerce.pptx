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PT Sans" panose="020B0604020202020204" charset="0"/>
      <p:regular r:id="rId15"/>
    </p:embeddedFont>
    <p:embeddedFont>
      <p:font typeface="Nunito Semi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19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233886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136696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AI-Powered Beauty: Transforming Cosmetic E-Commerce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607719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Exploring AI applications in e-commerce marketing for female cosmetics across global, regional (East Africa), and local (Kenya) markets.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24124" y="5714762"/>
            <a:ext cx="2045732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DAUDA ABDULAI 673334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324124" y="6045246"/>
            <a:ext cx="311360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FELICHER MINAH ODHIAMBO 671620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722775" y="5714762"/>
            <a:ext cx="149435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JANUARY 23,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55790" y="533519"/>
            <a:ext cx="1284803" cy="363617"/>
          </a:xfrm>
          <a:prstGeom prst="roundRect">
            <a:avLst>
              <a:gd name="adj" fmla="val 63858"/>
            </a:avLst>
          </a:prstGeom>
          <a:solidFill>
            <a:srgbClr val="CFD6FC"/>
          </a:solidFill>
          <a:ln/>
        </p:spPr>
      </p:sp>
      <p:sp>
        <p:nvSpPr>
          <p:cNvPr id="3" name="Text 1"/>
          <p:cNvSpPr/>
          <p:nvPr/>
        </p:nvSpPr>
        <p:spPr>
          <a:xfrm>
            <a:off x="1671876" y="591503"/>
            <a:ext cx="105263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5790" y="974527"/>
            <a:ext cx="5316498" cy="569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AI Beauty Revolution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1555790" y="2027277"/>
            <a:ext cx="2731651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Challenge</a:t>
            </a:r>
            <a:endParaRPr lang="en-US" sz="2150" b="1" dirty="0"/>
          </a:p>
        </p:txBody>
      </p:sp>
      <p:sp>
        <p:nvSpPr>
          <p:cNvPr id="6" name="Text 4"/>
          <p:cNvSpPr/>
          <p:nvPr/>
        </p:nvSpPr>
        <p:spPr>
          <a:xfrm>
            <a:off x="1555790" y="2436256"/>
            <a:ext cx="7043924" cy="136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The global beauty industry represents a hyper-competitive $500B+ market, while Kenya's cosmetic e-commerce sector is experiencing explosive growth at 25% annually. Success demands personalized, scalable marketing solutions that can adapt across diverse markets.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55790" y="3993833"/>
            <a:ext cx="3149798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Our Three-Tier Approach</a:t>
            </a:r>
            <a:endParaRPr lang="en-US" sz="2150" b="1" dirty="0"/>
          </a:p>
        </p:txBody>
      </p:sp>
      <p:sp>
        <p:nvSpPr>
          <p:cNvPr id="8" name="Text 6"/>
          <p:cNvSpPr/>
          <p:nvPr/>
        </p:nvSpPr>
        <p:spPr>
          <a:xfrm>
            <a:off x="1555790" y="4528661"/>
            <a:ext cx="6722388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Global Level:</a:t>
            </a: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Worldwide brand strategy and operational excellence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5790" y="4905851"/>
            <a:ext cx="6722388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2"/>
            </a:pPr>
            <a:r>
              <a:rPr lang="en-US" sz="15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Times New Roman" panose="02020603050405020304" pitchFamily="18" charset="0"/>
              </a:rPr>
              <a:t>Regional Level:</a:t>
            </a: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East African market optimization and cultural adaptation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55790" y="5283041"/>
            <a:ext cx="6722388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Font typeface="+mj-lt"/>
              <a:buAutoNum type="arabicPeriod" startAt="3"/>
            </a:pPr>
            <a:r>
              <a:rPr lang="en-US" sz="15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Local Level:</a:t>
            </a: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Kenya-specific customization and hyper-targeting</a:t>
            </a:r>
            <a:endParaRPr lang="en-US" sz="15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761" y="2051447"/>
            <a:ext cx="4324231" cy="432423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57761" y="6593324"/>
            <a:ext cx="4324231" cy="928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Our focus spans female cosmetics including skincare, makeup, and haircare products tailored to diverse consumer needs.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95812" y="797957"/>
            <a:ext cx="2132931" cy="240030"/>
          </a:xfrm>
          <a:prstGeom prst="roundRect">
            <a:avLst>
              <a:gd name="adj" fmla="val 59838"/>
            </a:avLst>
          </a:prstGeom>
          <a:noFill/>
          <a:ln w="7620">
            <a:solidFill>
              <a:srgbClr val="2D4DF2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1858" y="761252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18816" y="841415"/>
            <a:ext cx="949643" cy="153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GLOBAL APPLICATIONS</a:t>
            </a:r>
            <a:endParaRPr lang="en-US" sz="1400" b="1" dirty="0"/>
          </a:p>
        </p:txBody>
      </p:sp>
      <p:sp>
        <p:nvSpPr>
          <p:cNvPr id="6" name="Text 2"/>
          <p:cNvSpPr/>
          <p:nvPr/>
        </p:nvSpPr>
        <p:spPr>
          <a:xfrm>
            <a:off x="6495812" y="1085850"/>
            <a:ext cx="556938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Worldwide AI Strategies for Beauty Brands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6495812" y="1617226"/>
            <a:ext cx="7125057" cy="1363861"/>
          </a:xfrm>
          <a:prstGeom prst="roundRect">
            <a:avLst>
              <a:gd name="adj" fmla="val 13164"/>
            </a:avLst>
          </a:prstGeom>
          <a:solidFill>
            <a:srgbClr val="F3F3FF"/>
          </a:solidFill>
          <a:ln w="7620">
            <a:solidFill>
              <a:srgbClr val="2D4D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623090" y="1744504"/>
            <a:ext cx="457200" cy="457200"/>
          </a:xfrm>
          <a:prstGeom prst="roundRect">
            <a:avLst>
              <a:gd name="adj" fmla="val 25470121"/>
            </a:avLst>
          </a:prstGeom>
          <a:solidFill>
            <a:srgbClr val="2D4DF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21793" y="1843087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23090" y="2223135"/>
            <a:ext cx="1608892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Global Trend Forecasting</a:t>
            </a:r>
            <a:endParaRPr lang="en-US" sz="1600" b="1" dirty="0"/>
          </a:p>
        </p:txBody>
      </p:sp>
      <p:sp>
        <p:nvSpPr>
          <p:cNvPr id="11" name="Text 6"/>
          <p:cNvSpPr/>
          <p:nvPr/>
        </p:nvSpPr>
        <p:spPr>
          <a:xfrm>
            <a:off x="6623090" y="2470904"/>
            <a:ext cx="6870502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AI analyzes social media, runway shows, and search data worldwide to predict next season's colors, formulations, and ingredients with zero-error data aggregation.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6495812" y="3100745"/>
            <a:ext cx="7125057" cy="1363861"/>
          </a:xfrm>
          <a:prstGeom prst="roundRect">
            <a:avLst>
              <a:gd name="adj" fmla="val 13164"/>
            </a:avLst>
          </a:prstGeom>
          <a:solidFill>
            <a:srgbClr val="F3F3FF"/>
          </a:solidFill>
          <a:ln w="7620">
            <a:solidFill>
              <a:srgbClr val="018CE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623089" y="3228023"/>
            <a:ext cx="457200" cy="457200"/>
          </a:xfrm>
          <a:prstGeom prst="roundRect">
            <a:avLst>
              <a:gd name="adj" fmla="val 25470121"/>
            </a:avLst>
          </a:prstGeom>
          <a:solidFill>
            <a:srgbClr val="018CE1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21793" y="332660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23090" y="3706654"/>
            <a:ext cx="1882259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Cross-Border Personalization</a:t>
            </a:r>
            <a:endParaRPr lang="en-US" sz="1600" b="1" dirty="0"/>
          </a:p>
        </p:txBody>
      </p:sp>
      <p:sp>
        <p:nvSpPr>
          <p:cNvPr id="16" name="Text 10"/>
          <p:cNvSpPr/>
          <p:nvPr/>
        </p:nvSpPr>
        <p:spPr>
          <a:xfrm>
            <a:off x="6623090" y="3954423"/>
            <a:ext cx="6870502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Unified customer profiles across 150+ countries enable AI to adjust recommendations based on climate, culture, and local preferences automatically.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6495812" y="4584263"/>
            <a:ext cx="7125057" cy="1363861"/>
          </a:xfrm>
          <a:prstGeom prst="roundRect">
            <a:avLst>
              <a:gd name="adj" fmla="val 13164"/>
            </a:avLst>
          </a:prstGeom>
          <a:solidFill>
            <a:srgbClr val="F3F3FF"/>
          </a:solidFill>
          <a:ln w="7620">
            <a:solidFill>
              <a:srgbClr val="DA33B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623090" y="4711540"/>
            <a:ext cx="457200" cy="457200"/>
          </a:xfrm>
          <a:prstGeom prst="roundRect">
            <a:avLst>
              <a:gd name="adj" fmla="val 25470121"/>
            </a:avLst>
          </a:prstGeom>
          <a:solidFill>
            <a:srgbClr val="DA33BF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21793" y="4810125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23090" y="5190173"/>
            <a:ext cx="2131219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Autonomous Influencer Matching</a:t>
            </a:r>
            <a:endParaRPr lang="en-US" sz="1600" b="1" dirty="0"/>
          </a:p>
        </p:txBody>
      </p:sp>
      <p:sp>
        <p:nvSpPr>
          <p:cNvPr id="21" name="Text 14"/>
          <p:cNvSpPr/>
          <p:nvPr/>
        </p:nvSpPr>
        <p:spPr>
          <a:xfrm>
            <a:off x="6623090" y="5437942"/>
            <a:ext cx="6870502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AI scans millions of influencers globally, matching brand aesthetics with ideal audience demographics through error-free data analysis and scoring.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6495812" y="6067782"/>
            <a:ext cx="7125057" cy="1363861"/>
          </a:xfrm>
          <a:prstGeom prst="roundRect">
            <a:avLst>
              <a:gd name="adj" fmla="val 13164"/>
            </a:avLst>
          </a:prstGeom>
          <a:solidFill>
            <a:srgbClr val="F3F3FF"/>
          </a:solidFill>
          <a:ln w="7620">
            <a:solidFill>
              <a:srgbClr val="2D4DF2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623089" y="6195060"/>
            <a:ext cx="457200" cy="457200"/>
          </a:xfrm>
          <a:prstGeom prst="roundRect">
            <a:avLst>
              <a:gd name="adj" fmla="val 25470121"/>
            </a:avLst>
          </a:prstGeom>
          <a:solidFill>
            <a:srgbClr val="2D4DF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21793" y="6293644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623090" y="6673691"/>
            <a:ext cx="1859756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24/7 Campaign Management</a:t>
            </a:r>
            <a:endParaRPr lang="en-US" sz="1600" b="1" dirty="0"/>
          </a:p>
        </p:txBody>
      </p:sp>
      <p:sp>
        <p:nvSpPr>
          <p:cNvPr id="26" name="Text 18"/>
          <p:cNvSpPr/>
          <p:nvPr/>
        </p:nvSpPr>
        <p:spPr>
          <a:xfrm>
            <a:off x="6623090" y="6921460"/>
            <a:ext cx="6870502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AI orchestrates simultaneous campaigns across time zones with autonomous budget reallocation based on real-time performance metrics.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4114" y="652224"/>
            <a:ext cx="2373681" cy="374690"/>
          </a:xfrm>
          <a:prstGeom prst="roundRect">
            <a:avLst>
              <a:gd name="adj" fmla="val 58681"/>
            </a:avLst>
          </a:prstGeom>
          <a:noFill/>
          <a:ln w="15240">
            <a:solidFill>
              <a:srgbClr val="2D4DF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8621" y="67920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06466" y="722352"/>
            <a:ext cx="1123712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REGIONAL FOCUS</a:t>
            </a:r>
            <a:endParaRPr lang="en-US" sz="1600" b="1" dirty="0"/>
          </a:p>
        </p:txBody>
      </p:sp>
      <p:sp>
        <p:nvSpPr>
          <p:cNvPr id="5" name="Text 2"/>
          <p:cNvSpPr/>
          <p:nvPr/>
        </p:nvSpPr>
        <p:spPr>
          <a:xfrm>
            <a:off x="1861542" y="1100138"/>
            <a:ext cx="7134939" cy="538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AI for Pan-African Beauty Marketing</a:t>
            </a:r>
            <a:endParaRPr lang="en-US" sz="3350" dirty="0"/>
          </a:p>
        </p:txBody>
      </p:sp>
      <p:sp>
        <p:nvSpPr>
          <p:cNvPr id="6" name="Text 3"/>
          <p:cNvSpPr/>
          <p:nvPr/>
        </p:nvSpPr>
        <p:spPr>
          <a:xfrm>
            <a:off x="1861542" y="1913811"/>
            <a:ext cx="10907316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East Africa's unique market characteristics demand specialized AI adaptations that respect cultural nuances, leverage dominant platforms, and optimize for regional infrastructure.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861542" y="2980968"/>
            <a:ext cx="5362099" cy="2215753"/>
          </a:xfrm>
          <a:prstGeom prst="roundRect">
            <a:avLst>
              <a:gd name="adj" fmla="val 4952"/>
            </a:avLst>
          </a:prstGeom>
          <a:solidFill>
            <a:srgbClr val="F3F3FF">
              <a:alpha val="7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861542" y="2958108"/>
            <a:ext cx="5362099" cy="91440"/>
          </a:xfrm>
          <a:prstGeom prst="roundRect">
            <a:avLst>
              <a:gd name="adj" fmla="val 300567"/>
            </a:avLst>
          </a:prstGeom>
          <a:solidFill>
            <a:srgbClr val="2D4DF2"/>
          </a:solidFill>
          <a:ln/>
        </p:spPr>
      </p:sp>
      <p:sp>
        <p:nvSpPr>
          <p:cNvPr id="9" name="Shape 6"/>
          <p:cNvSpPr/>
          <p:nvPr/>
        </p:nvSpPr>
        <p:spPr>
          <a:xfrm>
            <a:off x="4267795" y="2706172"/>
            <a:ext cx="549593" cy="549593"/>
          </a:xfrm>
          <a:prstGeom prst="roundRect">
            <a:avLst>
              <a:gd name="adj" fmla="val 166378"/>
            </a:avLst>
          </a:prstGeom>
          <a:solidFill>
            <a:srgbClr val="2D4DF2"/>
          </a:solidFill>
          <a:ln/>
        </p:spPr>
      </p:sp>
      <p:sp>
        <p:nvSpPr>
          <p:cNvPr id="10" name="Text 7"/>
          <p:cNvSpPr/>
          <p:nvPr/>
        </p:nvSpPr>
        <p:spPr>
          <a:xfrm>
            <a:off x="4432697" y="2843570"/>
            <a:ext cx="219789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067520" y="3439001"/>
            <a:ext cx="2253377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Skin Tone &amp; Climate AI</a:t>
            </a:r>
            <a:endParaRPr lang="en-US" sz="1650" b="1" dirty="0"/>
          </a:p>
        </p:txBody>
      </p:sp>
      <p:sp>
        <p:nvSpPr>
          <p:cNvPr id="12" name="Text 9"/>
          <p:cNvSpPr/>
          <p:nvPr/>
        </p:nvSpPr>
        <p:spPr>
          <a:xfrm>
            <a:off x="2067520" y="3818215"/>
            <a:ext cx="4950143" cy="1309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Algorithms trained on diverse East African skin tones deliver climate-aware product recommendations factoring humidity and UV levels, achieving zero-error color matching via computer vision.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406759" y="2980968"/>
            <a:ext cx="5362099" cy="2215753"/>
          </a:xfrm>
          <a:prstGeom prst="roundRect">
            <a:avLst>
              <a:gd name="adj" fmla="val 4952"/>
            </a:avLst>
          </a:prstGeom>
          <a:solidFill>
            <a:srgbClr val="F3F3FF">
              <a:alpha val="7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406759" y="2958108"/>
            <a:ext cx="5362099" cy="91440"/>
          </a:xfrm>
          <a:prstGeom prst="roundRect">
            <a:avLst>
              <a:gd name="adj" fmla="val 300567"/>
            </a:avLst>
          </a:prstGeom>
          <a:solidFill>
            <a:srgbClr val="018CE1"/>
          </a:solidFill>
          <a:ln/>
        </p:spPr>
      </p:sp>
      <p:sp>
        <p:nvSpPr>
          <p:cNvPr id="15" name="Shape 12"/>
          <p:cNvSpPr/>
          <p:nvPr/>
        </p:nvSpPr>
        <p:spPr>
          <a:xfrm>
            <a:off x="9813012" y="2706172"/>
            <a:ext cx="549593" cy="549593"/>
          </a:xfrm>
          <a:prstGeom prst="roundRect">
            <a:avLst>
              <a:gd name="adj" fmla="val 166378"/>
            </a:avLst>
          </a:prstGeom>
          <a:solidFill>
            <a:srgbClr val="2D4DF2"/>
          </a:solidFill>
          <a:ln/>
        </p:spPr>
      </p:sp>
      <p:sp>
        <p:nvSpPr>
          <p:cNvPr id="16" name="Text 13"/>
          <p:cNvSpPr/>
          <p:nvPr/>
        </p:nvSpPr>
        <p:spPr>
          <a:xfrm>
            <a:off x="9977914" y="2843570"/>
            <a:ext cx="219789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612737" y="3439001"/>
            <a:ext cx="3004185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Social Commerce Optimization</a:t>
            </a:r>
            <a:endParaRPr lang="en-US" sz="1650" b="1" dirty="0"/>
          </a:p>
        </p:txBody>
      </p:sp>
      <p:sp>
        <p:nvSpPr>
          <p:cNvPr id="18" name="Text 15"/>
          <p:cNvSpPr/>
          <p:nvPr/>
        </p:nvSpPr>
        <p:spPr>
          <a:xfrm>
            <a:off x="7612737" y="3818215"/>
            <a:ext cx="4950143" cy="1172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AI optimized for Instagram and WhatsApp commerce dominance, featuring automated chat-based consultations via WhatsApp Business API and Swahili language chatbots for seamless customer service.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861542" y="5654635"/>
            <a:ext cx="5362099" cy="1922621"/>
          </a:xfrm>
          <a:prstGeom prst="roundRect">
            <a:avLst>
              <a:gd name="adj" fmla="val 5707"/>
            </a:avLst>
          </a:prstGeom>
          <a:solidFill>
            <a:srgbClr val="F3F3FF">
              <a:alpha val="7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861542" y="5631775"/>
            <a:ext cx="5362099" cy="91440"/>
          </a:xfrm>
          <a:prstGeom prst="roundRect">
            <a:avLst>
              <a:gd name="adj" fmla="val 300567"/>
            </a:avLst>
          </a:prstGeom>
          <a:solidFill>
            <a:srgbClr val="DA33BF"/>
          </a:solidFill>
          <a:ln/>
        </p:spPr>
      </p:sp>
      <p:sp>
        <p:nvSpPr>
          <p:cNvPr id="21" name="Shape 18"/>
          <p:cNvSpPr/>
          <p:nvPr/>
        </p:nvSpPr>
        <p:spPr>
          <a:xfrm>
            <a:off x="4267795" y="5379839"/>
            <a:ext cx="549593" cy="549593"/>
          </a:xfrm>
          <a:prstGeom prst="roundRect">
            <a:avLst>
              <a:gd name="adj" fmla="val 166378"/>
            </a:avLst>
          </a:prstGeom>
          <a:solidFill>
            <a:srgbClr val="2D4DF2"/>
          </a:solidFill>
          <a:ln/>
        </p:spPr>
      </p:sp>
      <p:sp>
        <p:nvSpPr>
          <p:cNvPr id="22" name="Text 19"/>
          <p:cNvSpPr/>
          <p:nvPr/>
        </p:nvSpPr>
        <p:spPr>
          <a:xfrm>
            <a:off x="4432697" y="5517237"/>
            <a:ext cx="219789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2067520" y="6112669"/>
            <a:ext cx="250840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Cross-Border Logistics AI</a:t>
            </a:r>
            <a:endParaRPr lang="en-US" sz="1650" b="1" dirty="0"/>
          </a:p>
        </p:txBody>
      </p:sp>
      <p:sp>
        <p:nvSpPr>
          <p:cNvPr id="24" name="Text 21"/>
          <p:cNvSpPr/>
          <p:nvPr/>
        </p:nvSpPr>
        <p:spPr>
          <a:xfrm>
            <a:off x="2067520" y="6491883"/>
            <a:ext cx="4950143" cy="879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Optimizes shipping and inventory across Kenya, Tanzania, and Uganda while predicting demand spikes during regional events and adjusting pricing for duty and tax differences.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406759" y="5654635"/>
            <a:ext cx="5362099" cy="1922621"/>
          </a:xfrm>
          <a:prstGeom prst="roundRect">
            <a:avLst>
              <a:gd name="adj" fmla="val 5707"/>
            </a:avLst>
          </a:prstGeom>
          <a:solidFill>
            <a:srgbClr val="F3F3FF">
              <a:alpha val="75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7406759" y="5631775"/>
            <a:ext cx="5362099" cy="91440"/>
          </a:xfrm>
          <a:prstGeom prst="roundRect">
            <a:avLst>
              <a:gd name="adj" fmla="val 300567"/>
            </a:avLst>
          </a:prstGeom>
          <a:solidFill>
            <a:srgbClr val="2D4DF2"/>
          </a:solidFill>
          <a:ln/>
        </p:spPr>
      </p:sp>
      <p:sp>
        <p:nvSpPr>
          <p:cNvPr id="27" name="Shape 24"/>
          <p:cNvSpPr/>
          <p:nvPr/>
        </p:nvSpPr>
        <p:spPr>
          <a:xfrm>
            <a:off x="9813012" y="5379839"/>
            <a:ext cx="549593" cy="549593"/>
          </a:xfrm>
          <a:prstGeom prst="roundRect">
            <a:avLst>
              <a:gd name="adj" fmla="val 166378"/>
            </a:avLst>
          </a:prstGeom>
          <a:solidFill>
            <a:srgbClr val="2D4DF2"/>
          </a:solidFill>
          <a:ln/>
        </p:spPr>
      </p:sp>
      <p:sp>
        <p:nvSpPr>
          <p:cNvPr id="28" name="Text 25"/>
          <p:cNvSpPr/>
          <p:nvPr/>
        </p:nvSpPr>
        <p:spPr>
          <a:xfrm>
            <a:off x="9977914" y="5517237"/>
            <a:ext cx="219789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7612737" y="6112669"/>
            <a:ext cx="2448758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Cultural Event Marketing</a:t>
            </a:r>
            <a:endParaRPr lang="en-US" sz="1650" b="1" dirty="0"/>
          </a:p>
        </p:txBody>
      </p:sp>
      <p:sp>
        <p:nvSpPr>
          <p:cNvPr id="30" name="Text 27"/>
          <p:cNvSpPr/>
          <p:nvPr/>
        </p:nvSpPr>
        <p:spPr>
          <a:xfrm>
            <a:off x="7612737" y="6491883"/>
            <a:ext cx="4950143" cy="879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AI maps regional festivals, holidays, and cultural moments to auto-generate culturally relevant campaigns for Eid, Jamhuri Day, and regional beauty pageants.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85056" y="202071"/>
            <a:ext cx="2740830" cy="322779"/>
          </a:xfrm>
          <a:prstGeom prst="roundRect">
            <a:avLst>
              <a:gd name="adj" fmla="val 63895"/>
            </a:avLst>
          </a:prstGeom>
          <a:solidFill>
            <a:srgbClr val="CFD6F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5779" y="27025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71121" y="326957"/>
            <a:ext cx="1042868" cy="153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LOCAL </a:t>
            </a:r>
            <a:r>
              <a:rPr lang="en-US" sz="14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Times New Roman" panose="02020603050405020304" pitchFamily="18" charset="0"/>
              </a:rPr>
              <a:t>IMPLEMENTATION</a:t>
            </a:r>
            <a:endParaRPr lang="en-US" sz="1100" b="1" dirty="0"/>
          </a:p>
        </p:txBody>
      </p:sp>
      <p:sp>
        <p:nvSpPr>
          <p:cNvPr id="5" name="Text 2"/>
          <p:cNvSpPr/>
          <p:nvPr/>
        </p:nvSpPr>
        <p:spPr>
          <a:xfrm>
            <a:off x="1016000" y="601742"/>
            <a:ext cx="861306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Hyper-Local AI for Kenyan Beauty Consumers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16000" y="1176218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200" b="1" dirty="0"/>
          </a:p>
        </p:txBody>
      </p:sp>
      <p:sp>
        <p:nvSpPr>
          <p:cNvPr id="7" name="Shape 4"/>
          <p:cNvSpPr/>
          <p:nvPr/>
        </p:nvSpPr>
        <p:spPr>
          <a:xfrm>
            <a:off x="1016000" y="1406009"/>
            <a:ext cx="6153110" cy="65008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1568351"/>
            <a:ext cx="2224921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M-Pesa Integration &amp; Optimization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16000" y="1841659"/>
            <a:ext cx="6153110" cy="5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AI optimizes payment flows for Kenya's dominant mobile money system with predictive cashback offers based on transaction history and zero-error fraud detection.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61720" y="2559865"/>
            <a:ext cx="1828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200" b="1" dirty="0"/>
          </a:p>
        </p:txBody>
      </p:sp>
      <p:sp>
        <p:nvSpPr>
          <p:cNvPr id="11" name="Shape 8"/>
          <p:cNvSpPr/>
          <p:nvPr/>
        </p:nvSpPr>
        <p:spPr>
          <a:xfrm>
            <a:off x="1016000" y="2774871"/>
            <a:ext cx="6153110" cy="53816"/>
          </a:xfrm>
          <a:prstGeom prst="rect">
            <a:avLst/>
          </a:prstGeom>
          <a:solidFill>
            <a:srgbClr val="018CE1"/>
          </a:solidFill>
          <a:ln/>
        </p:spPr>
      </p:sp>
      <p:sp>
        <p:nvSpPr>
          <p:cNvPr id="12" name="Text 9"/>
          <p:cNvSpPr/>
          <p:nvPr/>
        </p:nvSpPr>
        <p:spPr>
          <a:xfrm>
            <a:off x="1061720" y="2962907"/>
            <a:ext cx="1518761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Regional Customization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61720" y="3199328"/>
            <a:ext cx="6107390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Separate AI models serve urban Nairobi with premium, trend-focused products and coastal regions with humidity-resistant, halal cosmetics, adjusting messaging for local dialects.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61720" y="3912037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200" b="1" dirty="0"/>
          </a:p>
        </p:txBody>
      </p:sp>
      <p:sp>
        <p:nvSpPr>
          <p:cNvPr id="15" name="Shape 12"/>
          <p:cNvSpPr/>
          <p:nvPr/>
        </p:nvSpPr>
        <p:spPr>
          <a:xfrm>
            <a:off x="1061720" y="4132541"/>
            <a:ext cx="6107390" cy="53816"/>
          </a:xfrm>
          <a:prstGeom prst="rect">
            <a:avLst/>
          </a:prstGeom>
          <a:solidFill>
            <a:srgbClr val="DA33BF"/>
          </a:solidFill>
          <a:ln/>
        </p:spPr>
      </p:sp>
      <p:sp>
        <p:nvSpPr>
          <p:cNvPr id="16" name="Text 13"/>
          <p:cNvSpPr/>
          <p:nvPr/>
        </p:nvSpPr>
        <p:spPr>
          <a:xfrm>
            <a:off x="1061720" y="4314051"/>
            <a:ext cx="1869638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Local Ingredient Highlighting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16000" y="4556998"/>
            <a:ext cx="6153110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AI emphasizes Kenyan-sourced ingredients like aloe vera and marula oil, automatically generating content around local sourcing stories and partnering with local beauty bloggers.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61720" y="5292564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200" b="1" dirty="0"/>
          </a:p>
        </p:txBody>
      </p:sp>
      <p:sp>
        <p:nvSpPr>
          <p:cNvPr id="19" name="Shape 16"/>
          <p:cNvSpPr/>
          <p:nvPr/>
        </p:nvSpPr>
        <p:spPr>
          <a:xfrm flipV="1">
            <a:off x="1061720" y="5544025"/>
            <a:ext cx="6107390" cy="45719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20" name="Text 17"/>
          <p:cNvSpPr/>
          <p:nvPr/>
        </p:nvSpPr>
        <p:spPr>
          <a:xfrm>
            <a:off x="1061720" y="5644378"/>
            <a:ext cx="1923336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Infrastructure-Aware Delivery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61720" y="5914668"/>
            <a:ext cx="6107390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AI predicts delivery times based on Nairobi traffic patterns, rural area accessibility, and last-mile delivery optimization for reliable customer experience.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671" y="1224115"/>
            <a:ext cx="5049899" cy="3416498"/>
          </a:xfrm>
          <a:prstGeom prst="rect">
            <a:avLst/>
          </a:prstGeom>
        </p:spPr>
      </p:pic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8672" y="4684156"/>
            <a:ext cx="5049898" cy="35728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2609" y="734497"/>
            <a:ext cx="1713071" cy="346710"/>
          </a:xfrm>
          <a:prstGeom prst="roundRect">
            <a:avLst>
              <a:gd name="adj" fmla="val 63869"/>
            </a:avLst>
          </a:prstGeom>
          <a:solidFill>
            <a:srgbClr val="CFD6FC"/>
          </a:solidFill>
          <a:ln/>
        </p:spPr>
      </p:sp>
      <p:sp>
        <p:nvSpPr>
          <p:cNvPr id="3" name="Text 1"/>
          <p:cNvSpPr/>
          <p:nvPr/>
        </p:nvSpPr>
        <p:spPr>
          <a:xfrm>
            <a:off x="1933218" y="789742"/>
            <a:ext cx="1491853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ZERO-ERROR DOMAINS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822609" y="1154906"/>
            <a:ext cx="9205555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Fully Autonomous Systems &amp; Scaling Strategy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609" y="1974294"/>
            <a:ext cx="1852732" cy="11450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2609" y="3349943"/>
            <a:ext cx="257329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Visual Try-On Technology</a:t>
            </a:r>
            <a:endParaRPr lang="en-US" sz="1700" b="1" dirty="0"/>
          </a:p>
        </p:txBody>
      </p:sp>
      <p:sp>
        <p:nvSpPr>
          <p:cNvPr id="7" name="Text 4"/>
          <p:cNvSpPr/>
          <p:nvPr/>
        </p:nvSpPr>
        <p:spPr>
          <a:xfrm>
            <a:off x="1822609" y="3731776"/>
            <a:ext cx="2573298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AR-powered virtual makeup testing with zero-error color rendering and facial mapping achieves 98% accuracy in shade matching versus human 75%.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531" y="1974294"/>
            <a:ext cx="1852732" cy="11450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26531" y="3349943"/>
            <a:ext cx="2573298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Automated Inventory Management</a:t>
            </a:r>
            <a:endParaRPr lang="en-US" sz="1700" b="1" dirty="0"/>
          </a:p>
        </p:txBody>
      </p:sp>
      <p:sp>
        <p:nvSpPr>
          <p:cNvPr id="10" name="Text 6"/>
          <p:cNvSpPr/>
          <p:nvPr/>
        </p:nvSpPr>
        <p:spPr>
          <a:xfrm>
            <a:off x="4626531" y="4003000"/>
            <a:ext cx="2573298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predicts demand at SKU level with autonomous reordering from global suppliers, eliminating calculation and prediction errors entirely.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0452" y="1974294"/>
            <a:ext cx="1852732" cy="11450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30452" y="3349943"/>
            <a:ext cx="2329220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Dynamic Pricing Engine</a:t>
            </a:r>
            <a:endParaRPr lang="en-US" sz="1700" b="1" dirty="0"/>
          </a:p>
        </p:txBody>
      </p:sp>
      <p:sp>
        <p:nvSpPr>
          <p:cNvPr id="13" name="Text 8"/>
          <p:cNvSpPr/>
          <p:nvPr/>
        </p:nvSpPr>
        <p:spPr>
          <a:xfrm>
            <a:off x="7430452" y="3731776"/>
            <a:ext cx="2573298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Real-time price adjustment based on competitor pricing across 20+ Kenyan beauty sites, demand forecasting, and promotion effectiveness eliminates human pricing errors.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4374" y="1974294"/>
            <a:ext cx="1852732" cy="11450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34374" y="3349943"/>
            <a:ext cx="2573298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Personalized Routine Builder</a:t>
            </a:r>
            <a:endParaRPr lang="en-US" sz="1700" b="1" dirty="0"/>
          </a:p>
        </p:txBody>
      </p:sp>
      <p:sp>
        <p:nvSpPr>
          <p:cNvPr id="16" name="Text 10"/>
          <p:cNvSpPr/>
          <p:nvPr/>
        </p:nvSpPr>
        <p:spPr>
          <a:xfrm>
            <a:off x="10234374" y="4003000"/>
            <a:ext cx="2573298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creates complete skincare routines considering skin type, concerns, climate, and budget with zero-error ingredient compatibility checking.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2609" y="5710952"/>
            <a:ext cx="3661648" cy="7380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007037" y="6633448"/>
            <a:ext cx="2170867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Start in Kenya</a:t>
            </a:r>
            <a:endParaRPr lang="en-US" sz="1700" b="1" dirty="0"/>
          </a:p>
        </p:txBody>
      </p:sp>
      <p:sp>
        <p:nvSpPr>
          <p:cNvPr id="19" name="Text 12"/>
          <p:cNvSpPr/>
          <p:nvPr/>
        </p:nvSpPr>
        <p:spPr>
          <a:xfrm>
            <a:off x="2007037" y="7015282"/>
            <a:ext cx="329279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M-Pesa optimized AI foundation</a:t>
            </a:r>
            <a:endParaRPr lang="en-US" sz="14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4257" y="5710952"/>
            <a:ext cx="3661648" cy="7380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668685" y="6633448"/>
            <a:ext cx="2170867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Expand East Africa</a:t>
            </a:r>
            <a:endParaRPr lang="en-US" sz="1700" b="1" dirty="0"/>
          </a:p>
        </p:txBody>
      </p:sp>
      <p:sp>
        <p:nvSpPr>
          <p:cNvPr id="22" name="Text 14"/>
          <p:cNvSpPr/>
          <p:nvPr/>
        </p:nvSpPr>
        <p:spPr>
          <a:xfrm>
            <a:off x="5668685" y="7015282"/>
            <a:ext cx="329279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Swahili-speaking regional markets</a:t>
            </a:r>
            <a:endParaRPr lang="en-US" sz="14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5905" y="5710952"/>
            <a:ext cx="3661648" cy="7380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330333" y="6633448"/>
            <a:ext cx="2170867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Integrate Globally</a:t>
            </a:r>
            <a:endParaRPr lang="en-US" sz="1700" b="1" dirty="0"/>
          </a:p>
        </p:txBody>
      </p:sp>
      <p:sp>
        <p:nvSpPr>
          <p:cNvPr id="25" name="Text 16"/>
          <p:cNvSpPr/>
          <p:nvPr/>
        </p:nvSpPr>
        <p:spPr>
          <a:xfrm>
            <a:off x="9330333" y="7015282"/>
            <a:ext cx="329279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Global beauty AI ecosystem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5671" y="448390"/>
            <a:ext cx="2281986" cy="405528"/>
          </a:xfrm>
          <a:prstGeom prst="roundRect">
            <a:avLst>
              <a:gd name="adj" fmla="val 60124"/>
            </a:avLst>
          </a:prstGeom>
          <a:noFill/>
          <a:ln w="7620">
            <a:solidFill>
              <a:srgbClr val="2D4D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550801" y="598051"/>
            <a:ext cx="785217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b="1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IMPACT ANALYSIS</a:t>
            </a:r>
            <a:endParaRPr lang="en-US" b="1" dirty="0"/>
          </a:p>
        </p:txBody>
      </p:sp>
      <p:sp>
        <p:nvSpPr>
          <p:cNvPr id="4" name="Text 2"/>
          <p:cNvSpPr/>
          <p:nvPr/>
        </p:nvSpPr>
        <p:spPr>
          <a:xfrm>
            <a:off x="3465671" y="861536"/>
            <a:ext cx="5413057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Implementation &amp; Measurable Benefits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3465671" y="1289804"/>
            <a:ext cx="8719072" cy="559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AI delivers transformative results across all operational levels, from market responsiveness to conversion optimization. Our phased approach ensures sustainable growth and measurable ROI.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65670" y="1995011"/>
            <a:ext cx="8878730" cy="1807546"/>
          </a:xfrm>
          <a:prstGeom prst="roundRect">
            <a:avLst>
              <a:gd name="adj" fmla="val 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3291" y="2002631"/>
            <a:ext cx="7683698" cy="3770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02712" y="2087761"/>
            <a:ext cx="1658422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Level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27357" y="2087761"/>
            <a:ext cx="2807256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Application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00837" y="2087761"/>
            <a:ext cx="2426851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73291" y="2379702"/>
            <a:ext cx="7683698" cy="3770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02712" y="2464832"/>
            <a:ext cx="1658422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Global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27357" y="2464832"/>
            <a:ext cx="2807256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Trend Forecasting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00837" y="2464832"/>
            <a:ext cx="2426851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D4DF2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40% faster</a:t>
            </a: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 to market with new products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73291" y="2756773"/>
            <a:ext cx="7683698" cy="3770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02712" y="2841903"/>
            <a:ext cx="1658422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Regional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27357" y="2841903"/>
            <a:ext cx="2807256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Cross-border Optimization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00837" y="2841903"/>
            <a:ext cx="2426851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18CE1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30% reduction</a:t>
            </a: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 in regional logistics costs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73291" y="3133844"/>
            <a:ext cx="7683698" cy="5838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02712" y="3218974"/>
            <a:ext cx="1658422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Local (Kenya)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527357" y="3218974"/>
            <a:ext cx="2807256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M-Pesa AI Integration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00837" y="3218974"/>
            <a:ext cx="3583906" cy="413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DA33BF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50% higher</a:t>
            </a: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 conversion rate vs. traditional checkout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65671" y="3902987"/>
            <a:ext cx="2485186" cy="24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Technology Stack</a:t>
            </a:r>
            <a:endParaRPr lang="en-US" sz="2000" b="1" dirty="0"/>
          </a:p>
        </p:txBody>
      </p:sp>
      <p:sp>
        <p:nvSpPr>
          <p:cNvPr id="24" name="Shape 22"/>
          <p:cNvSpPr/>
          <p:nvPr/>
        </p:nvSpPr>
        <p:spPr>
          <a:xfrm>
            <a:off x="3465670" y="4410134"/>
            <a:ext cx="91440" cy="91440"/>
          </a:xfrm>
          <a:prstGeom prst="roundRect">
            <a:avLst>
              <a:gd name="adj" fmla="val 707182"/>
            </a:avLst>
          </a:prstGeom>
          <a:solidFill>
            <a:srgbClr val="2D4DF2"/>
          </a:solidFill>
          <a:ln/>
        </p:spPr>
      </p:sp>
      <p:sp>
        <p:nvSpPr>
          <p:cNvPr id="25" name="Text 23"/>
          <p:cNvSpPr/>
          <p:nvPr/>
        </p:nvSpPr>
        <p:spPr>
          <a:xfrm>
            <a:off x="3659624" y="4341495"/>
            <a:ext cx="1521500" cy="19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Computer Vision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9624" y="4609148"/>
            <a:ext cx="3574733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Virtual try-on and shade matching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capabilities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395923" y="4410134"/>
            <a:ext cx="91440" cy="91440"/>
          </a:xfrm>
          <a:prstGeom prst="roundRect">
            <a:avLst>
              <a:gd name="adj" fmla="val 707182"/>
            </a:avLst>
          </a:prstGeom>
          <a:solidFill>
            <a:srgbClr val="018CE1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877" y="4341495"/>
            <a:ext cx="2035493" cy="19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Natural Language Processing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89877" y="4585396"/>
            <a:ext cx="4137666" cy="23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Swahili/English chatbots and content generation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465670" y="5143201"/>
            <a:ext cx="91440" cy="91440"/>
          </a:xfrm>
          <a:prstGeom prst="roundRect">
            <a:avLst>
              <a:gd name="adj" fmla="val 707182"/>
            </a:avLst>
          </a:prstGeom>
          <a:solidFill>
            <a:srgbClr val="DA33BF"/>
          </a:solidFill>
          <a:ln/>
        </p:spPr>
      </p:sp>
      <p:sp>
        <p:nvSpPr>
          <p:cNvPr id="31" name="Text 29"/>
          <p:cNvSpPr/>
          <p:nvPr/>
        </p:nvSpPr>
        <p:spPr>
          <a:xfrm>
            <a:off x="3659624" y="5074563"/>
            <a:ext cx="1521500" cy="19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Predictive Analytics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659624" y="5342215"/>
            <a:ext cx="3574733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Inventory and demand forecasting systems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395923" y="5143201"/>
            <a:ext cx="91440" cy="91440"/>
          </a:xfrm>
          <a:prstGeom prst="roundRect">
            <a:avLst>
              <a:gd name="adj" fmla="val 707182"/>
            </a:avLst>
          </a:prstGeom>
          <a:solidFill>
            <a:srgbClr val="2D4DF2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877" y="5074563"/>
            <a:ext cx="1652707" cy="19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Reinforcement Learning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589877" y="5342215"/>
            <a:ext cx="3574733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Dynamic pricing optimization algorithms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465671" y="6686193"/>
            <a:ext cx="7698938" cy="15240"/>
          </a:xfrm>
          <a:prstGeom prst="roundRect">
            <a:avLst>
              <a:gd name="adj" fmla="val 1272936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42334" y="6298287"/>
            <a:ext cx="15240" cy="387906"/>
          </a:xfrm>
          <a:prstGeom prst="roundRect">
            <a:avLst>
              <a:gd name="adj" fmla="val 1272936"/>
            </a:avLst>
          </a:prstGeom>
          <a:solidFill>
            <a:srgbClr val="2D4DF2"/>
          </a:solidFill>
          <a:ln/>
        </p:spPr>
      </p:sp>
      <p:sp>
        <p:nvSpPr>
          <p:cNvPr id="38" name="Shape 36"/>
          <p:cNvSpPr/>
          <p:nvPr/>
        </p:nvSpPr>
        <p:spPr>
          <a:xfrm>
            <a:off x="5204460" y="6540698"/>
            <a:ext cx="290989" cy="290989"/>
          </a:xfrm>
          <a:prstGeom prst="roundRect">
            <a:avLst>
              <a:gd name="adj" fmla="val 66668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8693" y="6572131"/>
            <a:ext cx="182523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89264" y="5694521"/>
            <a:ext cx="1521500" cy="19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Months 1-3</a:t>
            </a:r>
            <a:endParaRPr lang="en-US" sz="1400" b="1" dirty="0"/>
          </a:p>
        </p:txBody>
      </p:sp>
      <p:sp>
        <p:nvSpPr>
          <p:cNvPr id="41" name="Text 39"/>
          <p:cNvSpPr/>
          <p:nvPr/>
        </p:nvSpPr>
        <p:spPr>
          <a:xfrm>
            <a:off x="3594973" y="5962174"/>
            <a:ext cx="3510082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Deploy virtual try-on and basic chatbots in Kenya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307461" y="6686193"/>
            <a:ext cx="15240" cy="387906"/>
          </a:xfrm>
          <a:prstGeom prst="roundRect">
            <a:avLst>
              <a:gd name="adj" fmla="val 1272936"/>
            </a:avLst>
          </a:prstGeom>
          <a:solidFill>
            <a:srgbClr val="018CE1"/>
          </a:solidFill>
          <a:ln/>
        </p:spPr>
      </p:sp>
      <p:sp>
        <p:nvSpPr>
          <p:cNvPr id="43" name="Shape 41"/>
          <p:cNvSpPr/>
          <p:nvPr/>
        </p:nvSpPr>
        <p:spPr>
          <a:xfrm>
            <a:off x="7169587" y="6540698"/>
            <a:ext cx="290989" cy="290989"/>
          </a:xfrm>
          <a:prstGeom prst="roundRect">
            <a:avLst>
              <a:gd name="adj" fmla="val 66668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820" y="6572131"/>
            <a:ext cx="182523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554391" y="7203400"/>
            <a:ext cx="1521500" cy="19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Months 4-9</a:t>
            </a:r>
            <a:endParaRPr lang="en-US" sz="1400" b="1" dirty="0"/>
          </a:p>
        </p:txBody>
      </p:sp>
      <p:sp>
        <p:nvSpPr>
          <p:cNvPr id="46" name="Text 44"/>
          <p:cNvSpPr/>
          <p:nvPr/>
        </p:nvSpPr>
        <p:spPr>
          <a:xfrm>
            <a:off x="5560100" y="7471053"/>
            <a:ext cx="3510082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Implement regional inventory AI across East Africa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9272588" y="6298287"/>
            <a:ext cx="15240" cy="387906"/>
          </a:xfrm>
          <a:prstGeom prst="roundRect">
            <a:avLst>
              <a:gd name="adj" fmla="val 1272936"/>
            </a:avLst>
          </a:prstGeom>
          <a:solidFill>
            <a:srgbClr val="DA33BF"/>
          </a:solidFill>
          <a:ln/>
        </p:spPr>
      </p:sp>
      <p:sp>
        <p:nvSpPr>
          <p:cNvPr id="48" name="Shape 46"/>
          <p:cNvSpPr/>
          <p:nvPr/>
        </p:nvSpPr>
        <p:spPr>
          <a:xfrm>
            <a:off x="9134713" y="6540698"/>
            <a:ext cx="290989" cy="290989"/>
          </a:xfrm>
          <a:prstGeom prst="roundRect">
            <a:avLst>
              <a:gd name="adj" fmla="val 66668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8946" y="6572131"/>
            <a:ext cx="182523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519517" y="5694521"/>
            <a:ext cx="1521500" cy="19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Months 10-12</a:t>
            </a:r>
            <a:endParaRPr lang="en-US" sz="1400" b="1" dirty="0"/>
          </a:p>
        </p:txBody>
      </p:sp>
      <p:sp>
        <p:nvSpPr>
          <p:cNvPr id="51" name="Text 49"/>
          <p:cNvSpPr/>
          <p:nvPr/>
        </p:nvSpPr>
        <p:spPr>
          <a:xfrm>
            <a:off x="7903669" y="5956059"/>
            <a:ext cx="3510082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Integrate with global trend forecasting platforms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8119" y="621030"/>
            <a:ext cx="6491049" cy="5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Future of Beauty E-Commerce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098119" y="1487090"/>
            <a:ext cx="10710738" cy="643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AI enables beauty brands to achieve the ultimate "triple win" through strategic implementation that balances global efficiency, regional relevance, and local personalization.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361009" y="2946083"/>
            <a:ext cx="3098125" cy="175260"/>
          </a:xfrm>
          <a:prstGeom prst="roundRect">
            <a:avLst>
              <a:gd name="adj" fmla="val 150013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98119" y="2770823"/>
            <a:ext cx="525780" cy="525780"/>
          </a:xfrm>
          <a:prstGeom prst="roundRect">
            <a:avLst>
              <a:gd name="adj" fmla="val 86957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9564" y="2902268"/>
            <a:ext cx="262890" cy="2628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73379" y="3471863"/>
            <a:ext cx="253448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Start Hyper-Local in Kenya</a:t>
            </a:r>
            <a:endParaRPr lang="en-US" sz="1600" b="1" dirty="0"/>
          </a:p>
        </p:txBody>
      </p:sp>
      <p:sp>
        <p:nvSpPr>
          <p:cNvPr id="8" name="Text 5"/>
          <p:cNvSpPr/>
          <p:nvPr/>
        </p:nvSpPr>
        <p:spPr>
          <a:xfrm>
            <a:off x="2273378" y="3834765"/>
            <a:ext cx="3361135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Leverage M-Pesa dominance with AI optimization, build trust through virtual try-on technology, and use AI to highlight Kenyan ingredients and authentic local stories.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897404" y="2683192"/>
            <a:ext cx="3098125" cy="175260"/>
          </a:xfrm>
          <a:prstGeom prst="roundRect">
            <a:avLst>
              <a:gd name="adj" fmla="val 150013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34514" y="2507933"/>
            <a:ext cx="525780" cy="525780"/>
          </a:xfrm>
          <a:prstGeom prst="roundRect">
            <a:avLst>
              <a:gd name="adj" fmla="val 86957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5959" y="2639378"/>
            <a:ext cx="262890" cy="2628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9774" y="3208973"/>
            <a:ext cx="3010614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Scale Regionally with Cultural Intelligence</a:t>
            </a:r>
            <a:endParaRPr lang="en-US" sz="1600" b="1" dirty="0"/>
          </a:p>
        </p:txBody>
      </p:sp>
      <p:sp>
        <p:nvSpPr>
          <p:cNvPr id="13" name="Text 9"/>
          <p:cNvSpPr/>
          <p:nvPr/>
        </p:nvSpPr>
        <p:spPr>
          <a:xfrm>
            <a:off x="5809773" y="3829645"/>
            <a:ext cx="3185755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Expand Swahili AI capabilities, adapt to regional beauty standards and preferences, and optimize cross-border African trade relationships for sustainable growth.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433798" y="2420303"/>
            <a:ext cx="3098244" cy="175260"/>
          </a:xfrm>
          <a:prstGeom prst="roundRect">
            <a:avLst>
              <a:gd name="adj" fmla="val 150013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70908" y="2245043"/>
            <a:ext cx="525780" cy="525780"/>
          </a:xfrm>
          <a:prstGeom prst="roundRect">
            <a:avLst>
              <a:gd name="adj" fmla="val 86957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02353" y="2376488"/>
            <a:ext cx="262890" cy="2628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46168" y="2946083"/>
            <a:ext cx="2767965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Go Global with Local Insights</a:t>
            </a:r>
            <a:endParaRPr lang="en-US" sz="1600" b="1" dirty="0"/>
          </a:p>
        </p:txBody>
      </p:sp>
      <p:sp>
        <p:nvSpPr>
          <p:cNvPr id="18" name="Text 13"/>
          <p:cNvSpPr/>
          <p:nvPr/>
        </p:nvSpPr>
        <p:spPr>
          <a:xfrm>
            <a:off x="9346168" y="3308985"/>
            <a:ext cx="3252232" cy="1599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Use Kenyan data to inform global product development, position as a tech-forward inclusive beauty brand, and maintain AI systems that respect local nuances at scale.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2098119" y="5609153"/>
            <a:ext cx="10434042" cy="1025128"/>
          </a:xfrm>
          <a:prstGeom prst="roundRect">
            <a:avLst>
              <a:gd name="adj" fmla="val 25647"/>
            </a:avLst>
          </a:prstGeom>
          <a:solidFill>
            <a:srgbClr val="B7C2F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73379" y="5872996"/>
            <a:ext cx="219075" cy="1752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667714" y="5828227"/>
            <a:ext cx="9689187" cy="68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Final Insight: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 AI empowers beauty brands to deliver </a:t>
            </a:r>
            <a:r>
              <a:rPr lang="en-US" sz="1600" dirty="0">
                <a:solidFill>
                  <a:srgbClr val="FFFFFF"/>
                </a:solidFill>
                <a:highlight>
                  <a:srgbClr val="2D4DF2"/>
                </a:highlight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global efficiency through automation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solidFill>
                  <a:srgbClr val="FFFFFF"/>
                </a:solidFill>
                <a:highlight>
                  <a:srgbClr val="018CE1"/>
                </a:highlight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regional relevance through adaptation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, and </a:t>
            </a:r>
            <a:r>
              <a:rPr lang="en-US" sz="1600" dirty="0">
                <a:solidFill>
                  <a:srgbClr val="FFFFFF"/>
                </a:solidFill>
                <a:highlight>
                  <a:srgbClr val="DA33BF"/>
                </a:highlight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local personalization through hyper-targeting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2098119" y="6897172"/>
            <a:ext cx="6090642" cy="7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Questions &amp; Discussion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940</Words>
  <Application>Microsoft Office PowerPoint</Application>
  <PresentationFormat>Custom</PresentationFormat>
  <Paragraphs>121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Nunito Light</vt:lpstr>
      <vt:lpstr>PT Sans</vt:lpstr>
      <vt:lpstr>Nunito Semi Bold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dauda  abdulahi</cp:lastModifiedBy>
  <cp:revision>12</cp:revision>
  <dcterms:created xsi:type="dcterms:W3CDTF">2026-01-18T12:06:19Z</dcterms:created>
  <dcterms:modified xsi:type="dcterms:W3CDTF">2026-01-18T13:52:06Z</dcterms:modified>
</cp:coreProperties>
</file>